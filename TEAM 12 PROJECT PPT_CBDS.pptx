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grandir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04142" y="-1425335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2" y="0"/>
                </a:lnTo>
                <a:lnTo>
                  <a:pt x="7280232" y="9495955"/>
                </a:lnTo>
                <a:lnTo>
                  <a:pt x="0" y="949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4647" y="2025175"/>
            <a:ext cx="6521986" cy="6236650"/>
          </a:xfrm>
          <a:custGeom>
            <a:avLst/>
            <a:gdLst/>
            <a:ahLst/>
            <a:cxnLst/>
            <a:rect r="r" b="b" t="t" l="l"/>
            <a:pathLst>
              <a:path h="6236650" w="6521986">
                <a:moveTo>
                  <a:pt x="0" y="0"/>
                </a:moveTo>
                <a:lnTo>
                  <a:pt x="6521986" y="0"/>
                </a:lnTo>
                <a:lnTo>
                  <a:pt x="6521986" y="6236650"/>
                </a:lnTo>
                <a:lnTo>
                  <a:pt x="0" y="6236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2274600" y="5724501"/>
            <a:ext cx="5072616" cy="0"/>
          </a:xfrm>
          <a:prstGeom prst="line">
            <a:avLst/>
          </a:prstGeom>
          <a:ln cap="rnd" w="66675">
            <a:solidFill>
              <a:srgbClr val="A369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1070269" y="0"/>
            <a:ext cx="2540979" cy="10287000"/>
            <a:chOff x="0" y="0"/>
            <a:chExt cx="669229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9229" cy="2709333"/>
            </a:xfrm>
            <a:custGeom>
              <a:avLst/>
              <a:gdLst/>
              <a:ahLst/>
              <a:cxnLst/>
              <a:rect r="r" b="b" t="t" l="l"/>
              <a:pathLst>
                <a:path h="2709333" w="669229">
                  <a:moveTo>
                    <a:pt x="304683" y="0"/>
                  </a:moveTo>
                  <a:lnTo>
                    <a:pt x="364547" y="0"/>
                  </a:lnTo>
                  <a:cubicBezTo>
                    <a:pt x="532818" y="0"/>
                    <a:pt x="669229" y="136411"/>
                    <a:pt x="669229" y="304683"/>
                  </a:cubicBezTo>
                  <a:lnTo>
                    <a:pt x="669229" y="2404651"/>
                  </a:lnTo>
                  <a:cubicBezTo>
                    <a:pt x="669229" y="2485458"/>
                    <a:pt x="637129" y="2562955"/>
                    <a:pt x="579990" y="2620094"/>
                  </a:cubicBezTo>
                  <a:cubicBezTo>
                    <a:pt x="522851" y="2677233"/>
                    <a:pt x="445353" y="2709333"/>
                    <a:pt x="364547" y="2709333"/>
                  </a:cubicBezTo>
                  <a:lnTo>
                    <a:pt x="304683" y="2709333"/>
                  </a:lnTo>
                  <a:cubicBezTo>
                    <a:pt x="136411" y="2709333"/>
                    <a:pt x="0" y="2572922"/>
                    <a:pt x="0" y="2404651"/>
                  </a:cubicBezTo>
                  <a:lnTo>
                    <a:pt x="0" y="304683"/>
                  </a:lnTo>
                  <a:cubicBezTo>
                    <a:pt x="0" y="223876"/>
                    <a:pt x="32100" y="146378"/>
                    <a:pt x="89239" y="89239"/>
                  </a:cubicBezTo>
                  <a:cubicBezTo>
                    <a:pt x="146378" y="32100"/>
                    <a:pt x="223876" y="0"/>
                    <a:pt x="304683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69229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7252459" y="2009337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16633" y="8712984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4" y="0"/>
                </a:lnTo>
                <a:lnTo>
                  <a:pt x="630224" y="621846"/>
                </a:lnTo>
                <a:lnTo>
                  <a:pt x="0" y="6218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94333" y="1213701"/>
            <a:ext cx="7205653" cy="404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3"/>
              </a:lnSpc>
            </a:pPr>
            <a:r>
              <a:rPr lang="en-US" sz="5552" b="tru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Cloud-Based Data Analytics for Public Food Distribution System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92003" y="7118382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1" y="0"/>
                </a:lnTo>
                <a:lnTo>
                  <a:pt x="504971" y="504971"/>
                </a:lnTo>
                <a:lnTo>
                  <a:pt x="0" y="504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2081691" y="9286875"/>
            <a:ext cx="472832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A3693E"/>
                </a:solidFill>
                <a:latin typeface="Poppins"/>
                <a:ea typeface="Poppins"/>
                <a:cs typeface="Poppins"/>
                <a:sym typeface="Poppins"/>
              </a:rPr>
              <a:t>GUIDED BY : PRATHYUSHA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5447" y="1784684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2" y="0"/>
                </a:lnTo>
                <a:lnTo>
                  <a:pt x="7280232" y="9495955"/>
                </a:lnTo>
                <a:lnTo>
                  <a:pt x="0" y="949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2079" y="7276283"/>
            <a:ext cx="5166615" cy="2142401"/>
            <a:chOff x="0" y="0"/>
            <a:chExt cx="1018011" cy="422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8011" cy="422131"/>
            </a:xfrm>
            <a:custGeom>
              <a:avLst/>
              <a:gdLst/>
              <a:ahLst/>
              <a:cxnLst/>
              <a:rect r="r" b="b" t="t" l="l"/>
              <a:pathLst>
                <a:path h="422131" w="1018011">
                  <a:moveTo>
                    <a:pt x="77919" y="0"/>
                  </a:moveTo>
                  <a:lnTo>
                    <a:pt x="940091" y="0"/>
                  </a:lnTo>
                  <a:cubicBezTo>
                    <a:pt x="983125" y="0"/>
                    <a:pt x="1018011" y="34886"/>
                    <a:pt x="1018011" y="77919"/>
                  </a:cubicBezTo>
                  <a:lnTo>
                    <a:pt x="1018011" y="344211"/>
                  </a:lnTo>
                  <a:cubicBezTo>
                    <a:pt x="1018011" y="387245"/>
                    <a:pt x="983125" y="422131"/>
                    <a:pt x="940091" y="422131"/>
                  </a:cubicBezTo>
                  <a:lnTo>
                    <a:pt x="77919" y="422131"/>
                  </a:lnTo>
                  <a:cubicBezTo>
                    <a:pt x="34886" y="422131"/>
                    <a:pt x="0" y="387245"/>
                    <a:pt x="0" y="344211"/>
                  </a:cubicBezTo>
                  <a:lnTo>
                    <a:pt x="0" y="77919"/>
                  </a:lnTo>
                  <a:cubicBezTo>
                    <a:pt x="0" y="34886"/>
                    <a:pt x="34886" y="0"/>
                    <a:pt x="7791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5652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061946" y="0"/>
            <a:ext cx="2540979" cy="10287000"/>
            <a:chOff x="0" y="0"/>
            <a:chExt cx="669229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9229" cy="2709333"/>
            </a:xfrm>
            <a:custGeom>
              <a:avLst/>
              <a:gdLst/>
              <a:ahLst/>
              <a:cxnLst/>
              <a:rect r="r" b="b" t="t" l="l"/>
              <a:pathLst>
                <a:path h="2709333" w="669229">
                  <a:moveTo>
                    <a:pt x="304683" y="0"/>
                  </a:moveTo>
                  <a:lnTo>
                    <a:pt x="364547" y="0"/>
                  </a:lnTo>
                  <a:cubicBezTo>
                    <a:pt x="532818" y="0"/>
                    <a:pt x="669229" y="136411"/>
                    <a:pt x="669229" y="304683"/>
                  </a:cubicBezTo>
                  <a:lnTo>
                    <a:pt x="669229" y="2404651"/>
                  </a:lnTo>
                  <a:cubicBezTo>
                    <a:pt x="669229" y="2485458"/>
                    <a:pt x="637129" y="2562955"/>
                    <a:pt x="579990" y="2620094"/>
                  </a:cubicBezTo>
                  <a:cubicBezTo>
                    <a:pt x="522851" y="2677233"/>
                    <a:pt x="445353" y="2709333"/>
                    <a:pt x="364547" y="2709333"/>
                  </a:cubicBezTo>
                  <a:lnTo>
                    <a:pt x="304683" y="2709333"/>
                  </a:lnTo>
                  <a:cubicBezTo>
                    <a:pt x="136411" y="2709333"/>
                    <a:pt x="0" y="2572922"/>
                    <a:pt x="0" y="2404651"/>
                  </a:cubicBezTo>
                  <a:lnTo>
                    <a:pt x="0" y="304683"/>
                  </a:lnTo>
                  <a:cubicBezTo>
                    <a:pt x="0" y="223876"/>
                    <a:pt x="32100" y="146378"/>
                    <a:pt x="89239" y="89239"/>
                  </a:cubicBezTo>
                  <a:cubicBezTo>
                    <a:pt x="146378" y="32100"/>
                    <a:pt x="223876" y="0"/>
                    <a:pt x="304683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69229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23729" y="1698959"/>
            <a:ext cx="12367817" cy="152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4086" indent="-307043" lvl="1">
              <a:lnSpc>
                <a:spcPts val="3982"/>
              </a:lnSpc>
              <a:buFont typeface="Arial"/>
              <a:buChar char="•"/>
            </a:pPr>
            <a:r>
              <a:rPr lang="en-US" sz="28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“Public Distribution Systems are government-managed programs designed to provide essential food grains such as rice and wheat to eligible beneficiaries at subsidized rates.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6215" y="325427"/>
            <a:ext cx="5951736" cy="106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4"/>
              </a:lnSpc>
            </a:pPr>
            <a:r>
              <a:rPr lang="en-US" sz="6674" b="tru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5599433" y="4009294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84938" y="8636454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4" y="0"/>
                </a:lnTo>
                <a:lnTo>
                  <a:pt x="630224" y="621846"/>
                </a:lnTo>
                <a:lnTo>
                  <a:pt x="0" y="6218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3729" y="6532661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1" y="0"/>
                </a:lnTo>
                <a:lnTo>
                  <a:pt x="504971" y="504971"/>
                </a:lnTo>
                <a:lnTo>
                  <a:pt x="0" y="504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523729" y="3531713"/>
            <a:ext cx="12867941" cy="249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Many states have digitized these systems using mobile apps and portals. However, most existing systems mainly 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focus on data storage and monitoring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They show what has already happened, but they do not actively predict future demand or optimize supply planning.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2544" y="7200083"/>
            <a:ext cx="10191095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aims to enhance such systems by introducing cloud-based data analytics and predictive modeling.”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1675" y="2427250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2" y="0"/>
                </a:lnTo>
                <a:lnTo>
                  <a:pt x="7280232" y="9495956"/>
                </a:lnTo>
                <a:lnTo>
                  <a:pt x="0" y="949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41517" y="863663"/>
            <a:ext cx="3510502" cy="4717453"/>
            <a:chOff x="0" y="0"/>
            <a:chExt cx="731380" cy="982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1380" cy="982836"/>
            </a:xfrm>
            <a:custGeom>
              <a:avLst/>
              <a:gdLst/>
              <a:ahLst/>
              <a:cxnLst/>
              <a:rect r="r" b="b" t="t" l="l"/>
              <a:pathLst>
                <a:path h="982836" w="731380">
                  <a:moveTo>
                    <a:pt x="55134" y="0"/>
                  </a:moveTo>
                  <a:lnTo>
                    <a:pt x="676246" y="0"/>
                  </a:lnTo>
                  <a:cubicBezTo>
                    <a:pt x="690868" y="0"/>
                    <a:pt x="704892" y="5809"/>
                    <a:pt x="715231" y="16148"/>
                  </a:cubicBezTo>
                  <a:cubicBezTo>
                    <a:pt x="725571" y="26488"/>
                    <a:pt x="731380" y="40512"/>
                    <a:pt x="731380" y="55134"/>
                  </a:cubicBezTo>
                  <a:lnTo>
                    <a:pt x="731380" y="927702"/>
                  </a:lnTo>
                  <a:cubicBezTo>
                    <a:pt x="731380" y="942325"/>
                    <a:pt x="725571" y="956348"/>
                    <a:pt x="715231" y="966688"/>
                  </a:cubicBezTo>
                  <a:cubicBezTo>
                    <a:pt x="704892" y="977028"/>
                    <a:pt x="690868" y="982836"/>
                    <a:pt x="676246" y="982836"/>
                  </a:cubicBezTo>
                  <a:lnTo>
                    <a:pt x="55134" y="982836"/>
                  </a:lnTo>
                  <a:cubicBezTo>
                    <a:pt x="40512" y="982836"/>
                    <a:pt x="26488" y="977028"/>
                    <a:pt x="16148" y="966688"/>
                  </a:cubicBezTo>
                  <a:cubicBezTo>
                    <a:pt x="5809" y="956348"/>
                    <a:pt x="0" y="942325"/>
                    <a:pt x="0" y="927702"/>
                  </a:cubicBezTo>
                  <a:lnTo>
                    <a:pt x="0" y="55134"/>
                  </a:lnTo>
                  <a:cubicBezTo>
                    <a:pt x="0" y="40512"/>
                    <a:pt x="5809" y="26488"/>
                    <a:pt x="16148" y="16148"/>
                  </a:cubicBezTo>
                  <a:cubicBezTo>
                    <a:pt x="26488" y="5809"/>
                    <a:pt x="40512" y="0"/>
                    <a:pt x="55134" y="0"/>
                  </a:cubicBezTo>
                  <a:close/>
                </a:path>
              </a:pathLst>
            </a:custGeom>
            <a:blipFill>
              <a:blip r:embed="rId4"/>
              <a:stretch>
                <a:fillRect l="-50785" t="0" r="-50785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69732" y="495590"/>
            <a:ext cx="6298590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ABOUT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304806"/>
            <a:ext cx="18288000" cy="1941158"/>
            <a:chOff x="0" y="0"/>
            <a:chExt cx="4816593" cy="511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511251"/>
            </a:xfrm>
            <a:custGeom>
              <a:avLst/>
              <a:gdLst/>
              <a:ahLst/>
              <a:cxnLst/>
              <a:rect r="r" b="b" t="t" l="l"/>
              <a:pathLst>
                <a:path h="511251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468918"/>
                  </a:lnTo>
                  <a:cubicBezTo>
                    <a:pt x="4816592" y="480146"/>
                    <a:pt x="4812132" y="490913"/>
                    <a:pt x="4804193" y="498852"/>
                  </a:cubicBezTo>
                  <a:cubicBezTo>
                    <a:pt x="4796254" y="506791"/>
                    <a:pt x="4785487" y="511251"/>
                    <a:pt x="4774259" y="511251"/>
                  </a:cubicBezTo>
                  <a:lnTo>
                    <a:pt x="42333" y="511251"/>
                  </a:lnTo>
                  <a:cubicBezTo>
                    <a:pt x="31106" y="511251"/>
                    <a:pt x="20338" y="506791"/>
                    <a:pt x="12399" y="498852"/>
                  </a:cubicBezTo>
                  <a:cubicBezTo>
                    <a:pt x="4460" y="490913"/>
                    <a:pt x="0" y="480146"/>
                    <a:pt x="0" y="46891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816593" cy="577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6377795" y="6752000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11294" y="241816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3" y="0"/>
                </a:lnTo>
                <a:lnTo>
                  <a:pt x="630223" y="621847"/>
                </a:lnTo>
                <a:lnTo>
                  <a:pt x="0" y="6218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8369" y="1438404"/>
            <a:ext cx="13700412" cy="109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7" indent="-291463" lvl="1">
              <a:lnSpc>
                <a:spcPts val="4373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“T Ration app is the official Public Distribution System application . It enables citizens to check ration card details, allocation status, and shop information.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41865" y="4037195"/>
            <a:ext cx="7388532" cy="403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  <a:spcBef>
                <a:spcPct val="0"/>
              </a:spcBef>
            </a:pPr>
          </a:p>
          <a:p>
            <a:pPr algn="ctr">
              <a:lnSpc>
                <a:spcPts val="3548"/>
              </a:lnSpc>
              <a:spcBef>
                <a:spcPct val="0"/>
              </a:spcBef>
            </a:pPr>
          </a:p>
          <a:p>
            <a:pPr algn="l" marL="547188" indent="-273594" lvl="1">
              <a:lnSpc>
                <a:spcPts val="3548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Official PDS app of Telangana.</a:t>
            </a:r>
          </a:p>
          <a:p>
            <a:pPr algn="l" marL="547188" indent="-273594" lvl="1">
              <a:lnSpc>
                <a:spcPts val="3548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Beneficiary Verification</a:t>
            </a:r>
          </a:p>
          <a:p>
            <a:pPr algn="l" marL="547188" indent="-273594" lvl="1">
              <a:lnSpc>
                <a:spcPts val="3548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Monthly Quota Validation</a:t>
            </a:r>
          </a:p>
          <a:p>
            <a:pPr algn="l" marL="547188" indent="-273594" lvl="1">
              <a:lnSpc>
                <a:spcPts val="3548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Manages ration card and beneficiary data</a:t>
            </a:r>
          </a:p>
          <a:p>
            <a:pPr algn="l" marL="547188" indent="-273594" lvl="1">
              <a:lnSpc>
                <a:spcPts val="3548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Tracks food grain allocation</a:t>
            </a:r>
          </a:p>
          <a:p>
            <a:pPr algn="l" marL="547188" indent="-273594" lvl="1">
              <a:lnSpc>
                <a:spcPts val="3548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transparency in distribution</a:t>
            </a:r>
          </a:p>
          <a:p>
            <a:pPr algn="l" marL="547188" indent="-273594" lvl="1">
              <a:lnSpc>
                <a:spcPts val="3548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citizens and officials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8369" y="2631020"/>
            <a:ext cx="13518037" cy="113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also allows government officials to monitor distribution records and manage beneficiary databases.”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1827" y="2932221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3" y="0"/>
                </a:lnTo>
                <a:lnTo>
                  <a:pt x="7280233" y="9495955"/>
                </a:lnTo>
                <a:lnTo>
                  <a:pt x="0" y="949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73969" y="1910293"/>
            <a:ext cx="6614031" cy="2873248"/>
            <a:chOff x="0" y="0"/>
            <a:chExt cx="1004918" cy="4365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4918" cy="436554"/>
            </a:xfrm>
            <a:custGeom>
              <a:avLst/>
              <a:gdLst/>
              <a:ahLst/>
              <a:cxnLst/>
              <a:rect r="r" b="b" t="t" l="l"/>
              <a:pathLst>
                <a:path h="436554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375686"/>
                  </a:lnTo>
                  <a:cubicBezTo>
                    <a:pt x="1004918" y="409302"/>
                    <a:pt x="977667" y="436554"/>
                    <a:pt x="944050" y="436554"/>
                  </a:cubicBezTo>
                  <a:lnTo>
                    <a:pt x="60868" y="436554"/>
                  </a:lnTo>
                  <a:cubicBezTo>
                    <a:pt x="27251" y="436554"/>
                    <a:pt x="0" y="409302"/>
                    <a:pt x="0" y="375686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6731" r="0" b="-2673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05306" y="1299531"/>
            <a:ext cx="7221060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ro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blem Identifi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-807414"/>
            <a:ext cx="18288000" cy="1941158"/>
            <a:chOff x="0" y="0"/>
            <a:chExt cx="4816593" cy="511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511251"/>
            </a:xfrm>
            <a:custGeom>
              <a:avLst/>
              <a:gdLst/>
              <a:ahLst/>
              <a:cxnLst/>
              <a:rect r="r" b="b" t="t" l="l"/>
              <a:pathLst>
                <a:path h="511251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468918"/>
                  </a:lnTo>
                  <a:cubicBezTo>
                    <a:pt x="4816592" y="480146"/>
                    <a:pt x="4812132" y="490913"/>
                    <a:pt x="4804193" y="498852"/>
                  </a:cubicBezTo>
                  <a:cubicBezTo>
                    <a:pt x="4796254" y="506791"/>
                    <a:pt x="4785487" y="511251"/>
                    <a:pt x="4774259" y="511251"/>
                  </a:cubicBezTo>
                  <a:lnTo>
                    <a:pt x="42333" y="511251"/>
                  </a:lnTo>
                  <a:cubicBezTo>
                    <a:pt x="31106" y="511251"/>
                    <a:pt x="20338" y="506791"/>
                    <a:pt x="12399" y="498852"/>
                  </a:cubicBezTo>
                  <a:cubicBezTo>
                    <a:pt x="4460" y="490913"/>
                    <a:pt x="0" y="480146"/>
                    <a:pt x="0" y="46891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816593" cy="577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6377795" y="6752000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26366" y="3035994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3" y="0"/>
                </a:lnTo>
                <a:lnTo>
                  <a:pt x="630223" y="621846"/>
                </a:lnTo>
                <a:lnTo>
                  <a:pt x="0" y="6218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6215" y="7175228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0" y="0"/>
                </a:lnTo>
                <a:lnTo>
                  <a:pt x="504970" y="504971"/>
                </a:lnTo>
                <a:lnTo>
                  <a:pt x="0" y="504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397044" y="3493856"/>
            <a:ext cx="11057618" cy="275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4373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“The current system operates reactively. It shows past data but does not forecast future demand. Without predictive analytics, there may be </a:t>
            </a: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regional shortages or excess stock.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There is no intelligent analytics layer to support proactive planning.”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9192" y="6447664"/>
            <a:ext cx="5353288" cy="238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Reactive planning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No demand forecasting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Possible shortages/overstock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No analytics layer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Limited decision support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1827" y="2932221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3" y="0"/>
                </a:lnTo>
                <a:lnTo>
                  <a:pt x="7280233" y="9495955"/>
                </a:lnTo>
                <a:lnTo>
                  <a:pt x="0" y="949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73969" y="1910293"/>
            <a:ext cx="6614031" cy="2873248"/>
            <a:chOff x="0" y="0"/>
            <a:chExt cx="1004918" cy="4365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4918" cy="436554"/>
            </a:xfrm>
            <a:custGeom>
              <a:avLst/>
              <a:gdLst/>
              <a:ahLst/>
              <a:cxnLst/>
              <a:rect r="r" b="b" t="t" l="l"/>
              <a:pathLst>
                <a:path h="436554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375686"/>
                  </a:lnTo>
                  <a:cubicBezTo>
                    <a:pt x="1004918" y="409302"/>
                    <a:pt x="977667" y="436554"/>
                    <a:pt x="944050" y="436554"/>
                  </a:cubicBezTo>
                  <a:lnTo>
                    <a:pt x="60868" y="436554"/>
                  </a:lnTo>
                  <a:cubicBezTo>
                    <a:pt x="27251" y="436554"/>
                    <a:pt x="0" y="409302"/>
                    <a:pt x="0" y="375686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6731" r="0" b="-2673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76215" y="1031587"/>
            <a:ext cx="10207623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new features using cloud data analytics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-807414"/>
            <a:ext cx="18288000" cy="1836114"/>
            <a:chOff x="0" y="0"/>
            <a:chExt cx="4816593" cy="4835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83586"/>
            </a:xfrm>
            <a:custGeom>
              <a:avLst/>
              <a:gdLst/>
              <a:ahLst/>
              <a:cxnLst/>
              <a:rect r="r" b="b" t="t" l="l"/>
              <a:pathLst>
                <a:path h="483586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441252"/>
                  </a:lnTo>
                  <a:cubicBezTo>
                    <a:pt x="4816592" y="452480"/>
                    <a:pt x="4812132" y="463247"/>
                    <a:pt x="4804193" y="471186"/>
                  </a:cubicBezTo>
                  <a:cubicBezTo>
                    <a:pt x="4796254" y="479125"/>
                    <a:pt x="4785487" y="483586"/>
                    <a:pt x="4774259" y="483586"/>
                  </a:cubicBezTo>
                  <a:lnTo>
                    <a:pt x="42333" y="483586"/>
                  </a:lnTo>
                  <a:cubicBezTo>
                    <a:pt x="31106" y="483586"/>
                    <a:pt x="20338" y="479125"/>
                    <a:pt x="12399" y="471186"/>
                  </a:cubicBezTo>
                  <a:cubicBezTo>
                    <a:pt x="4460" y="463247"/>
                    <a:pt x="0" y="452480"/>
                    <a:pt x="0" y="441252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816593" cy="550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6377795" y="6752000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26366" y="3035994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3" y="0"/>
                </a:lnTo>
                <a:lnTo>
                  <a:pt x="630223" y="621846"/>
                </a:lnTo>
                <a:lnTo>
                  <a:pt x="0" y="6218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6215" y="7175228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0" y="0"/>
                </a:lnTo>
                <a:lnTo>
                  <a:pt x="504970" y="504971"/>
                </a:lnTo>
                <a:lnTo>
                  <a:pt x="0" y="504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2808396"/>
            <a:ext cx="9190291" cy="77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Demand forecasting engine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Smart stock allocation system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inventory tracking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AI-based fraud detection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Geo-analytics heatmap dashboard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Predictive shortage alerts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anomaly detection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Beneficiary behavior analytics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Seasonal consumption analysis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SMS &amp; app alerts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 analytics for fair price shops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AI-based complaint pattern analysis</a:t>
            </a:r>
          </a:p>
          <a:p>
            <a:pPr algn="l" marL="604519" indent="-302260" lvl="1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Cloud-based disaster demand planning</a:t>
            </a:r>
          </a:p>
          <a:p>
            <a:pPr algn="l">
              <a:lnSpc>
                <a:spcPts val="439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1827" y="2932221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3" y="0"/>
                </a:lnTo>
                <a:lnTo>
                  <a:pt x="7280233" y="9495955"/>
                </a:lnTo>
                <a:lnTo>
                  <a:pt x="0" y="949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73969" y="1910293"/>
            <a:ext cx="6614031" cy="2873248"/>
            <a:chOff x="0" y="0"/>
            <a:chExt cx="1004918" cy="4365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4918" cy="436554"/>
            </a:xfrm>
            <a:custGeom>
              <a:avLst/>
              <a:gdLst/>
              <a:ahLst/>
              <a:cxnLst/>
              <a:rect r="r" b="b" t="t" l="l"/>
              <a:pathLst>
                <a:path h="436554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375686"/>
                  </a:lnTo>
                  <a:cubicBezTo>
                    <a:pt x="1004918" y="409302"/>
                    <a:pt x="977667" y="436554"/>
                    <a:pt x="944050" y="436554"/>
                  </a:cubicBezTo>
                  <a:lnTo>
                    <a:pt x="60868" y="436554"/>
                  </a:lnTo>
                  <a:cubicBezTo>
                    <a:pt x="27251" y="436554"/>
                    <a:pt x="0" y="409302"/>
                    <a:pt x="0" y="375686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6731" r="0" b="-2673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05306" y="1299531"/>
            <a:ext cx="7221060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roje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ct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ecti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ve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-807414"/>
            <a:ext cx="18288000" cy="1941158"/>
            <a:chOff x="0" y="0"/>
            <a:chExt cx="4816593" cy="511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511251"/>
            </a:xfrm>
            <a:custGeom>
              <a:avLst/>
              <a:gdLst/>
              <a:ahLst/>
              <a:cxnLst/>
              <a:rect r="r" b="b" t="t" l="l"/>
              <a:pathLst>
                <a:path h="511251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468918"/>
                  </a:lnTo>
                  <a:cubicBezTo>
                    <a:pt x="4816592" y="480146"/>
                    <a:pt x="4812132" y="490913"/>
                    <a:pt x="4804193" y="498852"/>
                  </a:cubicBezTo>
                  <a:cubicBezTo>
                    <a:pt x="4796254" y="506791"/>
                    <a:pt x="4785487" y="511251"/>
                    <a:pt x="4774259" y="511251"/>
                  </a:cubicBezTo>
                  <a:lnTo>
                    <a:pt x="42333" y="511251"/>
                  </a:lnTo>
                  <a:cubicBezTo>
                    <a:pt x="31106" y="511251"/>
                    <a:pt x="20338" y="506791"/>
                    <a:pt x="12399" y="498852"/>
                  </a:cubicBezTo>
                  <a:cubicBezTo>
                    <a:pt x="4460" y="490913"/>
                    <a:pt x="0" y="480146"/>
                    <a:pt x="0" y="46891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816593" cy="577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6377795" y="6752000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26366" y="3035994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3" y="0"/>
                </a:lnTo>
                <a:lnTo>
                  <a:pt x="630223" y="621846"/>
                </a:lnTo>
                <a:lnTo>
                  <a:pt x="0" y="6218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6215" y="7175228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0" y="0"/>
                </a:lnTo>
                <a:lnTo>
                  <a:pt x="504970" y="504971"/>
                </a:lnTo>
                <a:lnTo>
                  <a:pt x="0" y="504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397044" y="3551006"/>
            <a:ext cx="11057618" cy="19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“The main objective of this project is to integrate a cloud-based analytics layer into the existing system. The goal is to predict food demand, improve allocation efficiency, and support data-driven governance.”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9220" y="5992650"/>
            <a:ext cx="8302466" cy="360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Goal: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Add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Cloud-Based Predictive Analytics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Forecast demand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Improve allocation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Reduce wastage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Enable data-driven decisions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1675" y="2427250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2" y="0"/>
                </a:lnTo>
                <a:lnTo>
                  <a:pt x="7280232" y="9495956"/>
                </a:lnTo>
                <a:lnTo>
                  <a:pt x="0" y="949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91909" y="574767"/>
            <a:ext cx="4210206" cy="7369603"/>
            <a:chOff x="0" y="0"/>
            <a:chExt cx="639687" cy="1119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9687" cy="1119717"/>
            </a:xfrm>
            <a:custGeom>
              <a:avLst/>
              <a:gdLst/>
              <a:ahLst/>
              <a:cxnLst/>
              <a:rect r="r" b="b" t="t" l="l"/>
              <a:pathLst>
                <a:path h="1119717" w="639687">
                  <a:moveTo>
                    <a:pt x="95620" y="0"/>
                  </a:moveTo>
                  <a:lnTo>
                    <a:pt x="544067" y="0"/>
                  </a:lnTo>
                  <a:cubicBezTo>
                    <a:pt x="569427" y="0"/>
                    <a:pt x="593749" y="10074"/>
                    <a:pt x="611681" y="28006"/>
                  </a:cubicBezTo>
                  <a:cubicBezTo>
                    <a:pt x="629613" y="45939"/>
                    <a:pt x="639687" y="70260"/>
                    <a:pt x="639687" y="95620"/>
                  </a:cubicBezTo>
                  <a:lnTo>
                    <a:pt x="639687" y="1024097"/>
                  </a:lnTo>
                  <a:cubicBezTo>
                    <a:pt x="639687" y="1076907"/>
                    <a:pt x="596877" y="1119717"/>
                    <a:pt x="544067" y="1119717"/>
                  </a:cubicBezTo>
                  <a:lnTo>
                    <a:pt x="95620" y="1119717"/>
                  </a:lnTo>
                  <a:cubicBezTo>
                    <a:pt x="42811" y="1119717"/>
                    <a:pt x="0" y="1076907"/>
                    <a:pt x="0" y="1024097"/>
                  </a:cubicBezTo>
                  <a:lnTo>
                    <a:pt x="0" y="95620"/>
                  </a:lnTo>
                  <a:cubicBezTo>
                    <a:pt x="0" y="42811"/>
                    <a:pt x="42811" y="0"/>
                    <a:pt x="95620" y="0"/>
                  </a:cubicBezTo>
                  <a:close/>
                </a:path>
              </a:pathLst>
            </a:custGeom>
            <a:blipFill>
              <a:blip r:embed="rId4"/>
              <a:stretch>
                <a:fillRect l="-8347" t="0" r="-834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42001" y="456565"/>
            <a:ext cx="6639178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ata Use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0774" y="1391285"/>
            <a:ext cx="12924385" cy="788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3"/>
              </a:lnSpc>
            </a:pPr>
            <a:r>
              <a:rPr lang="en-US" b="true" sz="2546">
                <a:solidFill>
                  <a:srgbClr val="A3693E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Sources for Analyt</a:t>
            </a:r>
            <a:r>
              <a:rPr lang="en-US" b="true" sz="2546">
                <a:solidFill>
                  <a:srgbClr val="A3693E"/>
                </a:solidFill>
                <a:latin typeface="Poppins Bold"/>
                <a:ea typeface="Poppins Bold"/>
                <a:cs typeface="Poppins Bold"/>
                <a:sym typeface="Poppins Bold"/>
              </a:rPr>
              <a:t>ics</a:t>
            </a:r>
          </a:p>
          <a:p>
            <a:pPr algn="l" marL="0" indent="0" lvl="0">
              <a:lnSpc>
                <a:spcPts val="4303"/>
              </a:lnSpc>
            </a:pPr>
          </a:p>
          <a:p>
            <a:pPr algn="l" marL="0" indent="0" lvl="0">
              <a:lnSpc>
                <a:spcPts val="3883"/>
              </a:lnSpc>
            </a:pPr>
            <a:r>
              <a:rPr lang="en-US" sz="22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22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District Distribution Records : </a:t>
            </a:r>
          </a:p>
          <a:p>
            <a:pPr algn="l" marL="0" indent="0" lvl="0">
              <a:lnSpc>
                <a:spcPts val="3883"/>
              </a:lnSpc>
            </a:pPr>
            <a:r>
              <a:rPr lang="en-US" sz="22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how much food grain, such as rice or wheat, is distributed in each district every month. </a:t>
            </a:r>
          </a:p>
          <a:p>
            <a:pPr algn="l" marL="0" indent="0" lvl="0">
              <a:lnSpc>
                <a:spcPts val="3883"/>
              </a:lnSpc>
            </a:pPr>
          </a:p>
          <a:p>
            <a:pPr algn="l" marL="0" indent="0" lvl="0">
              <a:lnSpc>
                <a:spcPts val="3883"/>
              </a:lnSpc>
            </a:pPr>
            <a:r>
              <a:rPr lang="en-US" b="true" sz="22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• Monthly Allocation Data: </a:t>
            </a:r>
          </a:p>
          <a:p>
            <a:pPr algn="l" marL="0" indent="0" lvl="0">
              <a:lnSpc>
                <a:spcPts val="3883"/>
              </a:lnSpc>
            </a:pPr>
            <a:r>
              <a:rPr lang="en-US" sz="22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much  quantity of food allocated to each district or ration shop. </a:t>
            </a:r>
          </a:p>
          <a:p>
            <a:pPr algn="l" marL="0" indent="0" lvl="0">
              <a:lnSpc>
                <a:spcPts val="3883"/>
              </a:lnSpc>
            </a:pPr>
            <a:r>
              <a:rPr lang="en-US" sz="22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can identify gaps, excess supply, or shortages.</a:t>
            </a:r>
          </a:p>
          <a:p>
            <a:pPr algn="l" marL="0" indent="0" lvl="0">
              <a:lnSpc>
                <a:spcPts val="3883"/>
              </a:lnSpc>
            </a:pPr>
          </a:p>
          <a:p>
            <a:pPr algn="l" marL="0" indent="0" lvl="0">
              <a:lnSpc>
                <a:spcPts val="3883"/>
              </a:lnSpc>
            </a:pPr>
            <a:r>
              <a:rPr lang="en-US" sz="22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2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Beneficiary Counts:</a:t>
            </a:r>
          </a:p>
          <a:p>
            <a:pPr algn="l" marL="0" indent="0" lvl="0">
              <a:lnSpc>
                <a:spcPts val="3883"/>
              </a:lnSpc>
            </a:pPr>
            <a:r>
              <a:rPr lang="en-US" sz="22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includes the number of active ration card holders and family members linked to each card. This data helps in estimating demand based on population size and eligibility category.</a:t>
            </a:r>
          </a:p>
          <a:p>
            <a:pPr algn="l" marL="0" indent="0" lvl="0">
              <a:lnSpc>
                <a:spcPts val="3883"/>
              </a:lnSpc>
            </a:pPr>
          </a:p>
          <a:p>
            <a:pPr algn="l" marL="0" indent="0" lvl="0">
              <a:lnSpc>
                <a:spcPts val="3883"/>
              </a:lnSpc>
            </a:pPr>
          </a:p>
          <a:p>
            <a:pPr algn="l">
              <a:lnSpc>
                <a:spcPts val="388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5574982" y="8795615"/>
            <a:ext cx="2264534" cy="562044"/>
          </a:xfrm>
          <a:custGeom>
            <a:avLst/>
            <a:gdLst/>
            <a:ahLst/>
            <a:cxnLst/>
            <a:rect r="r" b="b" t="t" l="l"/>
            <a:pathLst>
              <a:path h="562044" w="2264534">
                <a:moveTo>
                  <a:pt x="0" y="0"/>
                </a:moveTo>
                <a:lnTo>
                  <a:pt x="2264534" y="0"/>
                </a:lnTo>
                <a:lnTo>
                  <a:pt x="2264534" y="562044"/>
                </a:lnTo>
                <a:lnTo>
                  <a:pt x="0" y="562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91909" y="2147198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0" y="0"/>
                </a:lnTo>
                <a:lnTo>
                  <a:pt x="504970" y="504970"/>
                </a:lnTo>
                <a:lnTo>
                  <a:pt x="0" y="5049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1675" y="2427250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2" y="0"/>
                </a:lnTo>
                <a:lnTo>
                  <a:pt x="7280232" y="9495956"/>
                </a:lnTo>
                <a:lnTo>
                  <a:pt x="0" y="949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91909" y="574767"/>
            <a:ext cx="4210206" cy="7369603"/>
            <a:chOff x="0" y="0"/>
            <a:chExt cx="639687" cy="1119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9687" cy="1119717"/>
            </a:xfrm>
            <a:custGeom>
              <a:avLst/>
              <a:gdLst/>
              <a:ahLst/>
              <a:cxnLst/>
              <a:rect r="r" b="b" t="t" l="l"/>
              <a:pathLst>
                <a:path h="1119717" w="639687">
                  <a:moveTo>
                    <a:pt x="95620" y="0"/>
                  </a:moveTo>
                  <a:lnTo>
                    <a:pt x="544067" y="0"/>
                  </a:lnTo>
                  <a:cubicBezTo>
                    <a:pt x="569427" y="0"/>
                    <a:pt x="593749" y="10074"/>
                    <a:pt x="611681" y="28006"/>
                  </a:cubicBezTo>
                  <a:cubicBezTo>
                    <a:pt x="629613" y="45939"/>
                    <a:pt x="639687" y="70260"/>
                    <a:pt x="639687" y="95620"/>
                  </a:cubicBezTo>
                  <a:lnTo>
                    <a:pt x="639687" y="1024097"/>
                  </a:lnTo>
                  <a:cubicBezTo>
                    <a:pt x="639687" y="1076907"/>
                    <a:pt x="596877" y="1119717"/>
                    <a:pt x="544067" y="1119717"/>
                  </a:cubicBezTo>
                  <a:lnTo>
                    <a:pt x="95620" y="1119717"/>
                  </a:lnTo>
                  <a:cubicBezTo>
                    <a:pt x="42811" y="1119717"/>
                    <a:pt x="0" y="1076907"/>
                    <a:pt x="0" y="1024097"/>
                  </a:cubicBezTo>
                  <a:lnTo>
                    <a:pt x="0" y="95620"/>
                  </a:lnTo>
                  <a:cubicBezTo>
                    <a:pt x="0" y="42811"/>
                    <a:pt x="42811" y="0"/>
                    <a:pt x="95620" y="0"/>
                  </a:cubicBezTo>
                  <a:close/>
                </a:path>
              </a:pathLst>
            </a:custGeom>
            <a:blipFill>
              <a:blip r:embed="rId4"/>
              <a:stretch>
                <a:fillRect l="-8347" t="0" r="-834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42001" y="456565"/>
            <a:ext cx="6639178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ata Use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0774" y="2247283"/>
            <a:ext cx="12924385" cy="43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3"/>
              </a:lnSpc>
            </a:pPr>
            <a:r>
              <a:rPr lang="en-US" sz="254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Shop Transaction Logs:</a:t>
            </a:r>
          </a:p>
          <a:p>
            <a:pPr algn="l">
              <a:lnSpc>
                <a:spcPts val="4303"/>
              </a:lnSpc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logs contain detailed transaction records such as date of distribution, quantity issued, and authentication details. </a:t>
            </a:r>
          </a:p>
          <a:p>
            <a:pPr algn="l">
              <a:lnSpc>
                <a:spcPts val="4303"/>
              </a:lnSpc>
            </a:pPr>
          </a:p>
          <a:p>
            <a:pPr algn="l">
              <a:lnSpc>
                <a:spcPts val="4303"/>
              </a:lnSpc>
            </a:pPr>
            <a:r>
              <a:rPr lang="en-US" sz="254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• Historical Trends:</a:t>
            </a:r>
          </a:p>
          <a:p>
            <a:pPr algn="l">
              <a:lnSpc>
                <a:spcPts val="4303"/>
              </a:lnSpc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includes past year distribution patterns, seasonal variations, and festival-related demand changes. </a:t>
            </a:r>
          </a:p>
          <a:p>
            <a:pPr algn="l">
              <a:lnSpc>
                <a:spcPts val="430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5574982" y="8795615"/>
            <a:ext cx="2264534" cy="562044"/>
          </a:xfrm>
          <a:custGeom>
            <a:avLst/>
            <a:gdLst/>
            <a:ahLst/>
            <a:cxnLst/>
            <a:rect r="r" b="b" t="t" l="l"/>
            <a:pathLst>
              <a:path h="562044" w="2264534">
                <a:moveTo>
                  <a:pt x="0" y="0"/>
                </a:moveTo>
                <a:lnTo>
                  <a:pt x="2264534" y="0"/>
                </a:lnTo>
                <a:lnTo>
                  <a:pt x="2264534" y="562044"/>
                </a:lnTo>
                <a:lnTo>
                  <a:pt x="0" y="562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91909" y="2147198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0" y="0"/>
                </a:lnTo>
                <a:lnTo>
                  <a:pt x="504970" y="504970"/>
                </a:lnTo>
                <a:lnTo>
                  <a:pt x="0" y="5049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15333" y="1320872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3" y="0"/>
                </a:lnTo>
                <a:lnTo>
                  <a:pt x="7280233" y="9495956"/>
                </a:lnTo>
                <a:lnTo>
                  <a:pt x="0" y="949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130686"/>
            <a:ext cx="18288000" cy="3511752"/>
            <a:chOff x="0" y="0"/>
            <a:chExt cx="4816593" cy="9249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24906"/>
            </a:xfrm>
            <a:custGeom>
              <a:avLst/>
              <a:gdLst/>
              <a:ahLst/>
              <a:cxnLst/>
              <a:rect r="r" b="b" t="t" l="l"/>
              <a:pathLst>
                <a:path h="924906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882572"/>
                  </a:lnTo>
                  <a:cubicBezTo>
                    <a:pt x="4816592" y="893800"/>
                    <a:pt x="4812132" y="904568"/>
                    <a:pt x="4804193" y="912507"/>
                  </a:cubicBezTo>
                  <a:cubicBezTo>
                    <a:pt x="4796254" y="920446"/>
                    <a:pt x="4785487" y="924906"/>
                    <a:pt x="4774259" y="924906"/>
                  </a:cubicBezTo>
                  <a:lnTo>
                    <a:pt x="42333" y="924906"/>
                  </a:lnTo>
                  <a:cubicBezTo>
                    <a:pt x="31106" y="924906"/>
                    <a:pt x="20338" y="920446"/>
                    <a:pt x="12399" y="912507"/>
                  </a:cubicBezTo>
                  <a:cubicBezTo>
                    <a:pt x="4460" y="904568"/>
                    <a:pt x="0" y="893800"/>
                    <a:pt x="0" y="882572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16593" cy="991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2545" y="210199"/>
            <a:ext cx="11787449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Do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s This Data H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lp i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n 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F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ca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ting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20022" y="4009294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86966" y="1009949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4" y="0"/>
                </a:lnTo>
                <a:lnTo>
                  <a:pt x="630224" y="621846"/>
                </a:lnTo>
                <a:lnTo>
                  <a:pt x="0" y="621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63784" y="9005815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0" y="0"/>
                </a:lnTo>
                <a:lnTo>
                  <a:pt x="504970" y="504970"/>
                </a:lnTo>
                <a:lnTo>
                  <a:pt x="0" y="504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2116586" y="3515049"/>
            <a:ext cx="13600604" cy="339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948" indent="-315474" lvl="1">
              <a:lnSpc>
                <a:spcPts val="5406"/>
              </a:lnSpc>
              <a:buFont typeface="Arial"/>
              <a:buChar char="•"/>
            </a:pPr>
            <a:r>
              <a:rPr lang="en-US" sz="29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historical monthly distribution data is used as time-series input. </a:t>
            </a:r>
          </a:p>
          <a:p>
            <a:pPr algn="l" marL="630948" indent="-315474" lvl="1">
              <a:lnSpc>
                <a:spcPts val="5406"/>
              </a:lnSpc>
              <a:buFont typeface="Arial"/>
              <a:buChar char="•"/>
            </a:pPr>
            <a:r>
              <a:rPr lang="en-US" sz="29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Beneficiary count acts as a demand baseline. </a:t>
            </a:r>
          </a:p>
          <a:p>
            <a:pPr algn="l" marL="630948" indent="-315474" lvl="1">
              <a:lnSpc>
                <a:spcPts val="5406"/>
              </a:lnSpc>
              <a:buFont typeface="Arial"/>
              <a:buChar char="•"/>
            </a:pPr>
            <a:r>
              <a:rPr lang="en-US" sz="29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Seasonal patterns are identified using trend analysis. </a:t>
            </a:r>
          </a:p>
          <a:p>
            <a:pPr algn="l" marL="630948" indent="-315474" lvl="1">
              <a:lnSpc>
                <a:spcPts val="5406"/>
              </a:lnSpc>
              <a:buFont typeface="Arial"/>
              <a:buChar char="•"/>
            </a:pPr>
            <a:r>
              <a:rPr lang="en-US" sz="29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variables are then used in forecasting models such as linear regression or ARIMA to estimate future food grain requirements.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67387" y="-1978934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3" y="0"/>
                </a:lnTo>
                <a:lnTo>
                  <a:pt x="7280233" y="9495955"/>
                </a:lnTo>
                <a:lnTo>
                  <a:pt x="0" y="949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79985" y="1430942"/>
            <a:ext cx="4776513" cy="4743442"/>
            <a:chOff x="0" y="0"/>
            <a:chExt cx="1069836" cy="1062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836" cy="1062429"/>
            </a:xfrm>
            <a:custGeom>
              <a:avLst/>
              <a:gdLst/>
              <a:ahLst/>
              <a:cxnLst/>
              <a:rect r="r" b="b" t="t" l="l"/>
              <a:pathLst>
                <a:path h="1062429" w="1069836">
                  <a:moveTo>
                    <a:pt x="84283" y="0"/>
                  </a:moveTo>
                  <a:lnTo>
                    <a:pt x="985553" y="0"/>
                  </a:lnTo>
                  <a:cubicBezTo>
                    <a:pt x="1007906" y="0"/>
                    <a:pt x="1029344" y="8880"/>
                    <a:pt x="1045150" y="24686"/>
                  </a:cubicBezTo>
                  <a:cubicBezTo>
                    <a:pt x="1060956" y="40492"/>
                    <a:pt x="1069836" y="61930"/>
                    <a:pt x="1069836" y="84283"/>
                  </a:cubicBezTo>
                  <a:lnTo>
                    <a:pt x="1069836" y="978146"/>
                  </a:lnTo>
                  <a:cubicBezTo>
                    <a:pt x="1069836" y="1024694"/>
                    <a:pt x="1032101" y="1062429"/>
                    <a:pt x="985553" y="1062429"/>
                  </a:cubicBezTo>
                  <a:lnTo>
                    <a:pt x="84283" y="1062429"/>
                  </a:lnTo>
                  <a:cubicBezTo>
                    <a:pt x="61930" y="1062429"/>
                    <a:pt x="40492" y="1053549"/>
                    <a:pt x="24686" y="1037743"/>
                  </a:cubicBezTo>
                  <a:cubicBezTo>
                    <a:pt x="8880" y="1021937"/>
                    <a:pt x="0" y="1000499"/>
                    <a:pt x="0" y="978146"/>
                  </a:cubicBezTo>
                  <a:lnTo>
                    <a:pt x="0" y="84283"/>
                  </a:lnTo>
                  <a:cubicBezTo>
                    <a:pt x="0" y="37735"/>
                    <a:pt x="37735" y="0"/>
                    <a:pt x="8428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522" r="0" b="-2552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824120" y="5285233"/>
            <a:ext cx="644881" cy="6448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5B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991324" y="5452438"/>
            <a:ext cx="310473" cy="310473"/>
          </a:xfrm>
          <a:custGeom>
            <a:avLst/>
            <a:gdLst/>
            <a:ahLst/>
            <a:cxnLst/>
            <a:rect r="r" b="b" t="t" l="l"/>
            <a:pathLst>
              <a:path h="310473" w="310473">
                <a:moveTo>
                  <a:pt x="0" y="0"/>
                </a:moveTo>
                <a:lnTo>
                  <a:pt x="310474" y="0"/>
                </a:lnTo>
                <a:lnTo>
                  <a:pt x="310474" y="310473"/>
                </a:lnTo>
                <a:lnTo>
                  <a:pt x="0" y="310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6215" y="1528665"/>
            <a:ext cx="12443520" cy="817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8"/>
              </a:lnSpc>
            </a:pPr>
            <a:r>
              <a:rPr lang="en-US" b="true" sz="2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</a:t>
            </a:r>
            <a:r>
              <a:rPr lang="en-US" b="true" sz="2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Centralized Storage:</a:t>
            </a:r>
          </a:p>
          <a:p>
            <a:pPr algn="l" marL="0" indent="0" lvl="0">
              <a:lnSpc>
                <a:spcPts val="3209"/>
              </a:lnSpc>
            </a:pPr>
            <a:r>
              <a:rPr lang="en-US" sz="22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ensures that all beneficiary data, allocation records, and transaction logs from multiple districts are stored in a unified cloud database.</a:t>
            </a:r>
          </a:p>
          <a:p>
            <a:pPr algn="l" marL="0" indent="0" lvl="0">
              <a:lnSpc>
                <a:spcPts val="3668"/>
              </a:lnSpc>
            </a:pPr>
          </a:p>
          <a:p>
            <a:pPr algn="l" marL="0" indent="0" lvl="0">
              <a:lnSpc>
                <a:spcPts val="3668"/>
              </a:lnSpc>
            </a:pPr>
            <a:r>
              <a:rPr lang="en-US" b="true" sz="2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• Scalability:</a:t>
            </a:r>
          </a:p>
          <a:p>
            <a:pPr algn="l" marL="0" indent="0" lvl="0">
              <a:lnSpc>
                <a:spcPts val="3209"/>
              </a:lnSpc>
            </a:pPr>
            <a:r>
              <a:rPr lang="en-US" sz="22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allows the system to handle increasing data volumes. the cloud infrastructure can dynamically expand storage and computing resources without requiring physical hardware upgrades.</a:t>
            </a:r>
          </a:p>
          <a:p>
            <a:pPr algn="l" marL="0" indent="0" lvl="0">
              <a:lnSpc>
                <a:spcPts val="3209"/>
              </a:lnSpc>
            </a:pPr>
          </a:p>
          <a:p>
            <a:pPr algn="l" marL="0" indent="0" lvl="0">
              <a:lnSpc>
                <a:spcPts val="3668"/>
              </a:lnSpc>
            </a:pPr>
            <a:r>
              <a:rPr lang="en-US" sz="26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Real-Time Processing:</a:t>
            </a:r>
          </a:p>
          <a:p>
            <a:pPr algn="l" marL="0" indent="0" lvl="0">
              <a:lnSpc>
                <a:spcPts val="3209"/>
              </a:lnSpc>
            </a:pPr>
            <a:r>
              <a:rPr lang="en-US" sz="22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continuous data updates. When a ration transaction occurs at a fair price shop, the data can be uploaded instantly to the cloud. This supports live dashboards and immediate analytics.</a:t>
            </a:r>
          </a:p>
          <a:p>
            <a:pPr algn="l" marL="0" indent="0" lvl="0">
              <a:lnSpc>
                <a:spcPts val="3668"/>
              </a:lnSpc>
            </a:pPr>
          </a:p>
          <a:p>
            <a:pPr algn="l" marL="0" indent="0" lvl="0">
              <a:lnSpc>
                <a:spcPts val="3668"/>
              </a:lnSpc>
            </a:pPr>
            <a:r>
              <a:rPr lang="en-US" sz="26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</a:t>
            </a:r>
            <a:r>
              <a:rPr lang="en-US" b="true" sz="2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Secure Access:</a:t>
            </a:r>
          </a:p>
          <a:p>
            <a:pPr algn="l" marL="0" indent="0" lvl="0">
              <a:lnSpc>
                <a:spcPts val="3668"/>
              </a:lnSpc>
            </a:pPr>
            <a:r>
              <a:rPr lang="en-US" sz="26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handles sensitive beneficiary information.</a:t>
            </a:r>
          </a:p>
          <a:p>
            <a:pPr algn="l" marL="0" indent="0" lvl="0">
              <a:lnSpc>
                <a:spcPts val="3668"/>
              </a:lnSpc>
            </a:pPr>
          </a:p>
          <a:p>
            <a:pPr algn="l" marL="0" indent="0" lvl="0">
              <a:lnSpc>
                <a:spcPts val="3668"/>
              </a:lnSpc>
            </a:pPr>
          </a:p>
          <a:p>
            <a:pPr algn="l">
              <a:lnSpc>
                <a:spcPts val="366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76215" y="343822"/>
            <a:ext cx="12603770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Role of Clo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u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 in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 the System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5400000">
            <a:off x="-504248" y="8200171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7"/>
                </a:lnTo>
                <a:lnTo>
                  <a:pt x="0" y="4510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9258300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1" y="0"/>
                </a:lnTo>
                <a:lnTo>
                  <a:pt x="504971" y="504971"/>
                </a:lnTo>
                <a:lnTo>
                  <a:pt x="0" y="504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1675" y="2427250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2" y="0"/>
                </a:lnTo>
                <a:lnTo>
                  <a:pt x="7280232" y="9495956"/>
                </a:lnTo>
                <a:lnTo>
                  <a:pt x="0" y="949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17510" y="0"/>
            <a:ext cx="8485416" cy="10287000"/>
            <a:chOff x="0" y="0"/>
            <a:chExt cx="2234842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484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34842">
                  <a:moveTo>
                    <a:pt x="91238" y="0"/>
                  </a:moveTo>
                  <a:lnTo>
                    <a:pt x="2143604" y="0"/>
                  </a:lnTo>
                  <a:cubicBezTo>
                    <a:pt x="2167802" y="0"/>
                    <a:pt x="2191009" y="9613"/>
                    <a:pt x="2208119" y="26723"/>
                  </a:cubicBezTo>
                  <a:cubicBezTo>
                    <a:pt x="2225229" y="43833"/>
                    <a:pt x="2234842" y="67040"/>
                    <a:pt x="2234842" y="91238"/>
                  </a:cubicBezTo>
                  <a:lnTo>
                    <a:pt x="2234842" y="2618095"/>
                  </a:lnTo>
                  <a:cubicBezTo>
                    <a:pt x="2234842" y="2668485"/>
                    <a:pt x="2193993" y="2709333"/>
                    <a:pt x="2143604" y="2709333"/>
                  </a:cubicBezTo>
                  <a:lnTo>
                    <a:pt x="91238" y="2709333"/>
                  </a:lnTo>
                  <a:cubicBezTo>
                    <a:pt x="40849" y="2709333"/>
                    <a:pt x="0" y="2668485"/>
                    <a:pt x="0" y="2618095"/>
                  </a:cubicBezTo>
                  <a:lnTo>
                    <a:pt x="0" y="91238"/>
                  </a:lnTo>
                  <a:cubicBezTo>
                    <a:pt x="0" y="40849"/>
                    <a:pt x="40849" y="0"/>
                    <a:pt x="91238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234842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82024" y="1523473"/>
            <a:ext cx="7199571" cy="3797937"/>
            <a:chOff x="0" y="0"/>
            <a:chExt cx="1115402" cy="58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5402" cy="588400"/>
            </a:xfrm>
            <a:custGeom>
              <a:avLst/>
              <a:gdLst/>
              <a:ahLst/>
              <a:cxnLst/>
              <a:rect r="r" b="b" t="t" l="l"/>
              <a:pathLst>
                <a:path h="588400" w="1115402">
                  <a:moveTo>
                    <a:pt x="32260" y="0"/>
                  </a:moveTo>
                  <a:lnTo>
                    <a:pt x="1083142" y="0"/>
                  </a:lnTo>
                  <a:cubicBezTo>
                    <a:pt x="1091698" y="0"/>
                    <a:pt x="1099903" y="3399"/>
                    <a:pt x="1105953" y="9449"/>
                  </a:cubicBezTo>
                  <a:cubicBezTo>
                    <a:pt x="1112003" y="15499"/>
                    <a:pt x="1115402" y="23704"/>
                    <a:pt x="1115402" y="32260"/>
                  </a:cubicBezTo>
                  <a:lnTo>
                    <a:pt x="1115402" y="556140"/>
                  </a:lnTo>
                  <a:cubicBezTo>
                    <a:pt x="1115402" y="564696"/>
                    <a:pt x="1112003" y="572901"/>
                    <a:pt x="1105953" y="578951"/>
                  </a:cubicBezTo>
                  <a:cubicBezTo>
                    <a:pt x="1099903" y="585001"/>
                    <a:pt x="1091698" y="588400"/>
                    <a:pt x="1083142" y="588400"/>
                  </a:cubicBezTo>
                  <a:lnTo>
                    <a:pt x="32260" y="588400"/>
                  </a:lnTo>
                  <a:cubicBezTo>
                    <a:pt x="23704" y="588400"/>
                    <a:pt x="15499" y="585001"/>
                    <a:pt x="9449" y="578951"/>
                  </a:cubicBezTo>
                  <a:cubicBezTo>
                    <a:pt x="3399" y="572901"/>
                    <a:pt x="0" y="564696"/>
                    <a:pt x="0" y="556140"/>
                  </a:cubicBezTo>
                  <a:lnTo>
                    <a:pt x="0" y="32260"/>
                  </a:lnTo>
                  <a:cubicBezTo>
                    <a:pt x="0" y="23704"/>
                    <a:pt x="3399" y="15499"/>
                    <a:pt x="9449" y="9449"/>
                  </a:cubicBezTo>
                  <a:cubicBezTo>
                    <a:pt x="15499" y="3399"/>
                    <a:pt x="23704" y="0"/>
                    <a:pt x="3226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188" r="0" b="-131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82024" y="5666644"/>
            <a:ext cx="7199571" cy="3096883"/>
            <a:chOff x="0" y="0"/>
            <a:chExt cx="1115402" cy="4797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402" cy="479788"/>
            </a:xfrm>
            <a:custGeom>
              <a:avLst/>
              <a:gdLst/>
              <a:ahLst/>
              <a:cxnLst/>
              <a:rect r="r" b="b" t="t" l="l"/>
              <a:pathLst>
                <a:path h="479788" w="1115402">
                  <a:moveTo>
                    <a:pt x="32260" y="0"/>
                  </a:moveTo>
                  <a:lnTo>
                    <a:pt x="1083142" y="0"/>
                  </a:lnTo>
                  <a:cubicBezTo>
                    <a:pt x="1091698" y="0"/>
                    <a:pt x="1099903" y="3399"/>
                    <a:pt x="1105953" y="9449"/>
                  </a:cubicBezTo>
                  <a:cubicBezTo>
                    <a:pt x="1112003" y="15499"/>
                    <a:pt x="1115402" y="23704"/>
                    <a:pt x="1115402" y="32260"/>
                  </a:cubicBezTo>
                  <a:lnTo>
                    <a:pt x="1115402" y="447528"/>
                  </a:lnTo>
                  <a:cubicBezTo>
                    <a:pt x="1115402" y="456084"/>
                    <a:pt x="1112003" y="464290"/>
                    <a:pt x="1105953" y="470339"/>
                  </a:cubicBezTo>
                  <a:cubicBezTo>
                    <a:pt x="1099903" y="476389"/>
                    <a:pt x="1091698" y="479788"/>
                    <a:pt x="1083142" y="479788"/>
                  </a:cubicBezTo>
                  <a:lnTo>
                    <a:pt x="32260" y="479788"/>
                  </a:lnTo>
                  <a:cubicBezTo>
                    <a:pt x="23704" y="479788"/>
                    <a:pt x="15499" y="476389"/>
                    <a:pt x="9449" y="470339"/>
                  </a:cubicBezTo>
                  <a:cubicBezTo>
                    <a:pt x="3399" y="464290"/>
                    <a:pt x="0" y="456084"/>
                    <a:pt x="0" y="447528"/>
                  </a:cubicBezTo>
                  <a:lnTo>
                    <a:pt x="0" y="32260"/>
                  </a:lnTo>
                  <a:cubicBezTo>
                    <a:pt x="0" y="23704"/>
                    <a:pt x="3399" y="15499"/>
                    <a:pt x="9449" y="9449"/>
                  </a:cubicBezTo>
                  <a:cubicBezTo>
                    <a:pt x="15499" y="3399"/>
                    <a:pt x="23704" y="0"/>
                    <a:pt x="3226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7492" r="0" b="-27492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604208" y="5805163"/>
            <a:ext cx="7484477" cy="0"/>
          </a:xfrm>
          <a:prstGeom prst="line">
            <a:avLst/>
          </a:prstGeom>
          <a:ln cap="rnd" w="19050">
            <a:solidFill>
              <a:srgbClr val="A3693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76215" y="778782"/>
            <a:ext cx="6658648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Analy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ic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s Te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niqu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400000">
            <a:off x="16377795" y="6752000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40123" y="2945312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3" y="0"/>
                </a:lnTo>
                <a:lnTo>
                  <a:pt x="630223" y="621846"/>
                </a:lnTo>
                <a:lnTo>
                  <a:pt x="0" y="6218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6215" y="7983437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0" y="0"/>
                </a:lnTo>
                <a:lnTo>
                  <a:pt x="504970" y="504970"/>
                </a:lnTo>
                <a:lnTo>
                  <a:pt x="0" y="504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854730" y="2878426"/>
            <a:ext cx="6671018" cy="319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4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Descriptive analytics</a:t>
            </a:r>
          </a:p>
          <a:p>
            <a:pPr algn="l">
              <a:lnSpc>
                <a:spcPts val="6381"/>
              </a:lnSpc>
            </a:pPr>
            <a:r>
              <a:rPr lang="en-US" sz="4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Trend analysis</a:t>
            </a:r>
          </a:p>
          <a:p>
            <a:pPr algn="l">
              <a:lnSpc>
                <a:spcPts val="6381"/>
              </a:lnSpc>
            </a:pPr>
            <a:r>
              <a:rPr lang="en-US" sz="4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Time series forecasting</a:t>
            </a:r>
          </a:p>
          <a:p>
            <a:pPr algn="l">
              <a:lnSpc>
                <a:spcPts val="6381"/>
              </a:lnSpc>
            </a:pPr>
            <a:r>
              <a:rPr lang="en-US" sz="4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Anomaly detection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1675" y="2427250"/>
            <a:ext cx="7280232" cy="9495955"/>
          </a:xfrm>
          <a:custGeom>
            <a:avLst/>
            <a:gdLst/>
            <a:ahLst/>
            <a:cxnLst/>
            <a:rect r="r" b="b" t="t" l="l"/>
            <a:pathLst>
              <a:path h="9495955" w="7280232">
                <a:moveTo>
                  <a:pt x="0" y="0"/>
                </a:moveTo>
                <a:lnTo>
                  <a:pt x="7280232" y="0"/>
                </a:lnTo>
                <a:lnTo>
                  <a:pt x="7280232" y="9495956"/>
                </a:lnTo>
                <a:lnTo>
                  <a:pt x="0" y="949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05729" y="0"/>
            <a:ext cx="8485416" cy="10287000"/>
            <a:chOff x="0" y="0"/>
            <a:chExt cx="2234842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484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34842">
                  <a:moveTo>
                    <a:pt x="91238" y="0"/>
                  </a:moveTo>
                  <a:lnTo>
                    <a:pt x="2143604" y="0"/>
                  </a:lnTo>
                  <a:cubicBezTo>
                    <a:pt x="2167802" y="0"/>
                    <a:pt x="2191009" y="9613"/>
                    <a:pt x="2208119" y="26723"/>
                  </a:cubicBezTo>
                  <a:cubicBezTo>
                    <a:pt x="2225229" y="43833"/>
                    <a:pt x="2234842" y="67040"/>
                    <a:pt x="2234842" y="91238"/>
                  </a:cubicBezTo>
                  <a:lnTo>
                    <a:pt x="2234842" y="2618095"/>
                  </a:lnTo>
                  <a:cubicBezTo>
                    <a:pt x="2234842" y="2668485"/>
                    <a:pt x="2193993" y="2709333"/>
                    <a:pt x="2143604" y="2709333"/>
                  </a:cubicBezTo>
                  <a:lnTo>
                    <a:pt x="91238" y="2709333"/>
                  </a:lnTo>
                  <a:cubicBezTo>
                    <a:pt x="40849" y="2709333"/>
                    <a:pt x="0" y="2668485"/>
                    <a:pt x="0" y="2618095"/>
                  </a:cubicBezTo>
                  <a:lnTo>
                    <a:pt x="0" y="91238"/>
                  </a:lnTo>
                  <a:cubicBezTo>
                    <a:pt x="0" y="40849"/>
                    <a:pt x="40849" y="0"/>
                    <a:pt x="91238" y="0"/>
                  </a:cubicBezTo>
                  <a:close/>
                </a:path>
              </a:pathLst>
            </a:custGeom>
            <a:ln w="200025" cap="rnd">
              <a:solidFill>
                <a:srgbClr val="A3693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234842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604208" y="5805163"/>
            <a:ext cx="7484477" cy="0"/>
          </a:xfrm>
          <a:prstGeom prst="line">
            <a:avLst/>
          </a:prstGeom>
          <a:ln cap="rnd" w="19050">
            <a:solidFill>
              <a:srgbClr val="A3693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54988" y="482880"/>
            <a:ext cx="10087665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Improvemen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t Over Exis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ting System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16377795" y="6752000"/>
            <a:ext cx="1817356" cy="451057"/>
          </a:xfrm>
          <a:custGeom>
            <a:avLst/>
            <a:gdLst/>
            <a:ahLst/>
            <a:cxnLst/>
            <a:rect r="r" b="b" t="t" l="l"/>
            <a:pathLst>
              <a:path h="451057" w="1817356">
                <a:moveTo>
                  <a:pt x="0" y="0"/>
                </a:moveTo>
                <a:lnTo>
                  <a:pt x="1817356" y="0"/>
                </a:lnTo>
                <a:lnTo>
                  <a:pt x="1817356" y="451056"/>
                </a:lnTo>
                <a:lnTo>
                  <a:pt x="0" y="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00286" r="-7317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40123" y="2945312"/>
            <a:ext cx="630223" cy="621846"/>
          </a:xfrm>
          <a:custGeom>
            <a:avLst/>
            <a:gdLst/>
            <a:ahLst/>
            <a:cxnLst/>
            <a:rect r="r" b="b" t="t" l="l"/>
            <a:pathLst>
              <a:path h="621846" w="630223">
                <a:moveTo>
                  <a:pt x="0" y="0"/>
                </a:moveTo>
                <a:lnTo>
                  <a:pt x="630223" y="0"/>
                </a:lnTo>
                <a:lnTo>
                  <a:pt x="630223" y="621846"/>
                </a:lnTo>
                <a:lnTo>
                  <a:pt x="0" y="621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5034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6215" y="7983437"/>
            <a:ext cx="504971" cy="504971"/>
          </a:xfrm>
          <a:custGeom>
            <a:avLst/>
            <a:gdLst/>
            <a:ahLst/>
            <a:cxnLst/>
            <a:rect r="r" b="b" t="t" l="l"/>
            <a:pathLst>
              <a:path h="504971" w="504971">
                <a:moveTo>
                  <a:pt x="0" y="0"/>
                </a:moveTo>
                <a:lnTo>
                  <a:pt x="504970" y="0"/>
                </a:lnTo>
                <a:lnTo>
                  <a:pt x="504970" y="504970"/>
                </a:lnTo>
                <a:lnTo>
                  <a:pt x="0" y="504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554988" y="2631357"/>
            <a:ext cx="6506409" cy="80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41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</a:t>
            </a:r>
            <a:r>
              <a:rPr lang="en-US" b="true" sz="41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stem Transformation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6784" y="4192220"/>
            <a:ext cx="14783433" cy="391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7"/>
              </a:lnSpc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→ Monitoring System</a:t>
            </a:r>
          </a:p>
          <a:p>
            <a:pPr algn="l">
              <a:lnSpc>
                <a:spcPts val="5207"/>
              </a:lnSpc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→ Predictive &amp; Intelligent System</a:t>
            </a:r>
          </a:p>
          <a:p>
            <a:pPr algn="l">
              <a:lnSpc>
                <a:spcPts val="5207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Shortage Alerts</a:t>
            </a:r>
          </a:p>
          <a:p>
            <a:pPr algn="l">
              <a:lnSpc>
                <a:spcPts val="5207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Smart Allocation</a:t>
            </a:r>
          </a:p>
          <a:p>
            <a:pPr algn="l">
              <a:lnSpc>
                <a:spcPts val="5207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Reduced Wastage</a:t>
            </a:r>
          </a:p>
          <a:p>
            <a:pPr algn="l">
              <a:lnSpc>
                <a:spcPts val="5207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Better Planning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7388" y="635280"/>
            <a:ext cx="14379467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6800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the Improved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 T Rati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n System</a:t>
            </a:r>
            <a:r>
              <a:rPr lang="en-US" b="true" sz="6800" strike="noStrike" u="none">
                <a:solidFill>
                  <a:srgbClr val="A3693E"/>
                </a:solidFill>
                <a:latin typeface="Agrandir Bold"/>
                <a:ea typeface="Agrandir Bold"/>
                <a:cs typeface="Agrandir Bold"/>
                <a:sym typeface="Agrandir Bold"/>
              </a:rPr>
              <a:t> Helps Needy People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29606" y="2848561"/>
            <a:ext cx="8558212" cy="463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Ensures Availability of Ration</a:t>
            </a:r>
          </a:p>
          <a:p>
            <a:pPr algn="l" marL="604519" indent="-302260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Prevents Diversion and Fraud</a:t>
            </a:r>
          </a:p>
          <a:p>
            <a:pPr algn="l" marL="604519" indent="-302260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Fairness and Transparency</a:t>
            </a:r>
          </a:p>
          <a:p>
            <a:pPr algn="l" marL="604519" indent="-302260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Waiting Time and Confusion</a:t>
            </a:r>
          </a:p>
          <a:p>
            <a:pPr algn="l" marL="604519" indent="-302260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Early Alerts</a:t>
            </a:r>
          </a:p>
          <a:p>
            <a:pPr algn="l" marL="604519" indent="-302260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People During Emergencies(floods)</a:t>
            </a:r>
          </a:p>
          <a:p>
            <a:pPr algn="l" marL="604519" indent="-302260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Data-Driven Policy Decisions</a:t>
            </a:r>
          </a:p>
          <a:p>
            <a:pPr algn="l" marL="604519" indent="-302260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Grievance Resolution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30221" y="4547772"/>
            <a:ext cx="5227558" cy="133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7"/>
              </a:lnSpc>
              <a:spcBef>
                <a:spcPct val="0"/>
              </a:spcBef>
            </a:pPr>
            <a:r>
              <a:rPr lang="en-US" b="true" sz="6998">
                <a:solidFill>
                  <a:srgbClr val="A3693E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DAHBv-TBWKU</dc:identifier>
  <dcterms:modified xsi:type="dcterms:W3CDTF">2011-08-01T06:04:30Z</dcterms:modified>
  <cp:revision>1</cp:revision>
  <dc:title>Brown and Beige Illustrated Distribution Pitch Deck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895275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S11.0.1</vt:lpwstr>
  </property>
</Properties>
</file>